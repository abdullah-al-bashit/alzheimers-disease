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89" d="100"/>
          <a:sy n="189" d="100"/>
        </p:scale>
        <p:origin x="-1264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13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de50f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285750"/>
            <a:ext cx="209550" cy="2190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 rot="5400000">
            <a:off x="1733550" y="1247775"/>
            <a:ext cx="6412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500" dirty="0"/>
          </a:p>
        </p:txBody>
      </p:sp>
      <p:pic>
        <p:nvPicPr>
          <p:cNvPr id="4" name="Image 1" descr="/tmp/rasterized-gradient-ca22f7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2476500"/>
            <a:ext cx="209550" cy="1285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5400000">
            <a:off x="1543273" y="2986162"/>
            <a:ext cx="1029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500" dirty="0"/>
          </a:p>
        </p:txBody>
      </p:sp>
      <p:pic>
        <p:nvPicPr>
          <p:cNvPr id="6" name="Image 2" descr="/tmp/rasterized-gradient-42815a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3762375"/>
            <a:ext cx="209550" cy="10953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 rot="5400000">
            <a:off x="1521023" y="4176712"/>
            <a:ext cx="10747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500" dirty="0"/>
          </a:p>
        </p:txBody>
      </p:sp>
      <p:pic>
        <p:nvPicPr>
          <p:cNvPr id="8" name="Image 3" descr="/tmp/rasterized-gradient-24cefc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9900" y="333375"/>
            <a:ext cx="3429000" cy="3429000"/>
          </a:xfrm>
          <a:prstGeom prst="rect">
            <a:avLst/>
          </a:prstGeom>
          <a:effectLst>
            <a:outerShdw blurRad="142875" dist="19050" dir="5400000" algn="bl" rotWithShape="0">
              <a:srgbClr val="000000">
                <a:alpha val="5000"/>
              </a:srgbClr>
            </a:outerShdw>
          </a:effectLst>
        </p:spPr>
      </p:pic>
      <p:pic>
        <p:nvPicPr>
          <p:cNvPr id="9" name="Image 4" descr="/tmp/rasterized-svg-df5781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00" y="285750"/>
            <a:ext cx="4953000" cy="4572000"/>
          </a:xfrm>
          <a:prstGeom prst="rect">
            <a:avLst/>
          </a:prstGeom>
        </p:spPr>
      </p:pic>
      <p:pic>
        <p:nvPicPr>
          <p:cNvPr id="10" name="Image 5" descr="/tmp/rasterized-gradient-537bbe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4850" y="333375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3B82F6">
                <a:alpha val="20000"/>
              </a:srgbClr>
            </a:outerShdw>
          </a:effectLst>
        </p:spPr>
      </p:pic>
      <p:sp>
        <p:nvSpPr>
          <p:cNvPr id="11" name="Text 3"/>
          <p:cNvSpPr/>
          <p:nvPr/>
        </p:nvSpPr>
        <p:spPr>
          <a:xfrm>
            <a:off x="4605486" y="447675"/>
            <a:ext cx="242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🚬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4603700" y="790575"/>
            <a:ext cx="24622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</a:t>
            </a:r>
            <a:endParaRPr lang="en-US" sz="450" dirty="0"/>
          </a:p>
        </p:txBody>
      </p:sp>
      <p:pic>
        <p:nvPicPr>
          <p:cNvPr id="13" name="Image 6" descr="/tmp/rasterized-gradient-656aa49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714375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3B82F6">
                <a:alpha val="20000"/>
              </a:srgbClr>
            </a:outerShdw>
          </a:effectLst>
        </p:spPr>
      </p:pic>
      <p:sp>
        <p:nvSpPr>
          <p:cNvPr id="14" name="Text 5"/>
          <p:cNvSpPr/>
          <p:nvPr/>
        </p:nvSpPr>
        <p:spPr>
          <a:xfrm>
            <a:off x="6539061" y="828675"/>
            <a:ext cx="242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💨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6507063" y="1171575"/>
            <a:ext cx="30786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Spirometry</a:t>
            </a:r>
            <a:endParaRPr lang="en-US" sz="450" dirty="0"/>
          </a:p>
        </p:txBody>
      </p:sp>
      <p:pic>
        <p:nvPicPr>
          <p:cNvPr id="16" name="Image 7" descr="/tmp/rasterized-gradient-8413f6d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6550" y="1571625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3B82F6">
                <a:alpha val="20000"/>
              </a:srgbClr>
            </a:outerShdw>
          </a:effectLst>
        </p:spPr>
      </p:pic>
      <p:pic>
        <p:nvPicPr>
          <p:cNvPr id="17" name="Image 8" descr="/tmp/rasterized-svg-012f8eb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1800" y="1666875"/>
            <a:ext cx="228600" cy="2286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6740500" y="2028825"/>
            <a:ext cx="31742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Imaging</a:t>
            </a:r>
            <a:endParaRPr lang="en-US" sz="450" dirty="0"/>
          </a:p>
        </p:txBody>
      </p:sp>
      <p:pic>
        <p:nvPicPr>
          <p:cNvPr id="19" name="Image 9" descr="/tmp/rasterized-gradient-87a0909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428875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3B82F6">
                <a:alpha val="20000"/>
              </a:srgbClr>
            </a:outerShdw>
          </a:effectLst>
        </p:spPr>
      </p:pic>
      <p:sp>
        <p:nvSpPr>
          <p:cNvPr id="20" name="Text 8"/>
          <p:cNvSpPr/>
          <p:nvPr/>
        </p:nvSpPr>
        <p:spPr>
          <a:xfrm>
            <a:off x="6539061" y="2543175"/>
            <a:ext cx="242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6502301" y="2886075"/>
            <a:ext cx="31757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Proteomics</a:t>
            </a:r>
            <a:endParaRPr lang="en-US" sz="450" dirty="0"/>
          </a:p>
        </p:txBody>
      </p:sp>
      <p:pic>
        <p:nvPicPr>
          <p:cNvPr id="22" name="Image 10" descr="/tmp/rasterized-gradient-a465a87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1275" y="2428875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3B82F6">
                <a:alpha val="20000"/>
              </a:srgbClr>
            </a:outerShdw>
          </a:effectLst>
        </p:spPr>
      </p:pic>
      <p:sp>
        <p:nvSpPr>
          <p:cNvPr id="23" name="Text 10"/>
          <p:cNvSpPr/>
          <p:nvPr/>
        </p:nvSpPr>
        <p:spPr>
          <a:xfrm>
            <a:off x="2671911" y="2543175"/>
            <a:ext cx="242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2670125" y="2886075"/>
            <a:ext cx="24622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</a:t>
            </a:r>
            <a:endParaRPr lang="en-US" sz="450" dirty="0"/>
          </a:p>
        </p:txBody>
      </p:sp>
      <p:pic>
        <p:nvPicPr>
          <p:cNvPr id="25" name="Image 11" descr="/tmp/rasterized-gradient-7186bd9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43150" y="1571625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3B82F6">
                <a:alpha val="20000"/>
              </a:srgbClr>
            </a:outerShdw>
          </a:effectLst>
        </p:spPr>
      </p:pic>
      <p:sp>
        <p:nvSpPr>
          <p:cNvPr id="26" name="Text 12"/>
          <p:cNvSpPr/>
          <p:nvPr/>
        </p:nvSpPr>
        <p:spPr>
          <a:xfrm>
            <a:off x="2433786" y="1685925"/>
            <a:ext cx="242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1500" dirty="0"/>
          </a:p>
        </p:txBody>
      </p:sp>
      <p:sp>
        <p:nvSpPr>
          <p:cNvPr id="27" name="Text 13"/>
          <p:cNvSpPr/>
          <p:nvPr/>
        </p:nvSpPr>
        <p:spPr>
          <a:xfrm>
            <a:off x="2451050" y="2028825"/>
            <a:ext cx="20736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450" dirty="0"/>
          </a:p>
        </p:txBody>
      </p:sp>
      <p:pic>
        <p:nvPicPr>
          <p:cNvPr id="28" name="Image 12" descr="/tmp/rasterized-gradient-716fb34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81275" y="714375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3B82F6">
                <a:alpha val="20000"/>
              </a:srgbClr>
            </a:outerShdw>
          </a:effectLst>
        </p:spPr>
      </p:pic>
      <p:sp>
        <p:nvSpPr>
          <p:cNvPr id="29" name="Text 14"/>
          <p:cNvSpPr/>
          <p:nvPr/>
        </p:nvSpPr>
        <p:spPr>
          <a:xfrm>
            <a:off x="2671911" y="828675"/>
            <a:ext cx="2425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2692375" y="1171575"/>
            <a:ext cx="20083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450" dirty="0"/>
          </a:p>
        </p:txBody>
      </p:sp>
      <p:pic>
        <p:nvPicPr>
          <p:cNvPr id="32" name="Image 13" descr="/tmp/rasterized-gradient-45fdf6a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4250" y="3238500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16A34A">
                <a:alpha val="25000"/>
              </a:srgbClr>
            </a:outerShdw>
          </a:effectLst>
        </p:spPr>
      </p:pic>
      <p:sp>
        <p:nvSpPr>
          <p:cNvPr id="33" name="Text 17"/>
          <p:cNvSpPr/>
          <p:nvPr/>
        </p:nvSpPr>
        <p:spPr>
          <a:xfrm>
            <a:off x="3654863" y="3336131"/>
            <a:ext cx="157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975" dirty="0"/>
          </a:p>
        </p:txBody>
      </p:sp>
      <p:sp>
        <p:nvSpPr>
          <p:cNvPr id="34" name="Text 18"/>
          <p:cNvSpPr/>
          <p:nvPr/>
        </p:nvSpPr>
        <p:spPr>
          <a:xfrm>
            <a:off x="3620402" y="3507581"/>
            <a:ext cx="226796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Diff. Expr.</a:t>
            </a:r>
            <a:endParaRPr lang="en-US" sz="375" dirty="0"/>
          </a:p>
        </p:txBody>
      </p:sp>
      <p:pic>
        <p:nvPicPr>
          <p:cNvPr id="35" name="Image 14" descr="/tmp/rasterized-gradient-c05414c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19550" y="3238500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16A34A">
                <a:alpha val="25000"/>
              </a:srgbClr>
            </a:outerShdw>
          </a:effectLst>
        </p:spPr>
      </p:pic>
      <p:sp>
        <p:nvSpPr>
          <p:cNvPr id="36" name="Text 19"/>
          <p:cNvSpPr/>
          <p:nvPr/>
        </p:nvSpPr>
        <p:spPr>
          <a:xfrm>
            <a:off x="4150163" y="3336131"/>
            <a:ext cx="157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🛤️</a:t>
            </a:r>
            <a:endParaRPr lang="en-US" sz="975" dirty="0"/>
          </a:p>
        </p:txBody>
      </p:sp>
      <p:sp>
        <p:nvSpPr>
          <p:cNvPr id="37" name="Text 20"/>
          <p:cNvSpPr/>
          <p:nvPr/>
        </p:nvSpPr>
        <p:spPr>
          <a:xfrm>
            <a:off x="4160182" y="3507581"/>
            <a:ext cx="137687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GSEA</a:t>
            </a:r>
            <a:endParaRPr lang="en-US" sz="375" dirty="0"/>
          </a:p>
        </p:txBody>
      </p:sp>
      <p:pic>
        <p:nvPicPr>
          <p:cNvPr id="38" name="Image 15" descr="/tmp/rasterized-gradient-cfae7fa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14850" y="3238500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16A34A">
                <a:alpha val="25000"/>
              </a:srgbClr>
            </a:outerShdw>
          </a:effectLst>
        </p:spPr>
      </p:pic>
      <p:sp>
        <p:nvSpPr>
          <p:cNvPr id="39" name="Text 21"/>
          <p:cNvSpPr/>
          <p:nvPr/>
        </p:nvSpPr>
        <p:spPr>
          <a:xfrm>
            <a:off x="4645463" y="3336131"/>
            <a:ext cx="157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🕸️</a:t>
            </a:r>
            <a:endParaRPr lang="en-US" sz="975" dirty="0"/>
          </a:p>
        </p:txBody>
      </p:sp>
      <p:sp>
        <p:nvSpPr>
          <p:cNvPr id="40" name="Text 22"/>
          <p:cNvSpPr/>
          <p:nvPr/>
        </p:nvSpPr>
        <p:spPr>
          <a:xfrm>
            <a:off x="4629827" y="3507581"/>
            <a:ext cx="188997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WGCNA</a:t>
            </a:r>
            <a:endParaRPr lang="en-US" sz="375" dirty="0"/>
          </a:p>
        </p:txBody>
      </p:sp>
      <p:pic>
        <p:nvPicPr>
          <p:cNvPr id="41" name="Image 16" descr="/tmp/rasterized-gradient-75ef532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10150" y="3238500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16A34A">
                <a:alpha val="25000"/>
              </a:srgbClr>
            </a:outerShdw>
          </a:effectLst>
        </p:spPr>
      </p:pic>
      <p:sp>
        <p:nvSpPr>
          <p:cNvPr id="42" name="Text 23"/>
          <p:cNvSpPr/>
          <p:nvPr/>
        </p:nvSpPr>
        <p:spPr>
          <a:xfrm>
            <a:off x="5140763" y="3336131"/>
            <a:ext cx="157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975" dirty="0"/>
          </a:p>
        </p:txBody>
      </p:sp>
      <p:sp>
        <p:nvSpPr>
          <p:cNvPr id="43" name="Text 24"/>
          <p:cNvSpPr/>
          <p:nvPr/>
        </p:nvSpPr>
        <p:spPr>
          <a:xfrm>
            <a:off x="5167024" y="3507581"/>
            <a:ext cx="105352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CCA</a:t>
            </a:r>
            <a:endParaRPr lang="en-US" sz="375" dirty="0"/>
          </a:p>
        </p:txBody>
      </p:sp>
      <p:pic>
        <p:nvPicPr>
          <p:cNvPr id="44" name="Image 17" descr="/tmp/rasterized-gradient-5efac6a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05450" y="3238500"/>
            <a:ext cx="419100" cy="419100"/>
          </a:xfrm>
          <a:prstGeom prst="rect">
            <a:avLst/>
          </a:prstGeom>
          <a:effectLst>
            <a:outerShdw blurRad="76200" dist="19050" dir="5400000" algn="bl" rotWithShape="0">
              <a:srgbClr val="16A34A">
                <a:alpha val="25000"/>
              </a:srgbClr>
            </a:outerShdw>
          </a:effectLst>
        </p:spPr>
      </p:pic>
      <p:sp>
        <p:nvSpPr>
          <p:cNvPr id="45" name="Text 25"/>
          <p:cNvSpPr/>
          <p:nvPr/>
        </p:nvSpPr>
        <p:spPr>
          <a:xfrm>
            <a:off x="5636063" y="3336131"/>
            <a:ext cx="157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975" dirty="0"/>
          </a:p>
        </p:txBody>
      </p:sp>
      <p:sp>
        <p:nvSpPr>
          <p:cNvPr id="46" name="Text 26"/>
          <p:cNvSpPr/>
          <p:nvPr/>
        </p:nvSpPr>
        <p:spPr>
          <a:xfrm>
            <a:off x="5590673" y="3507581"/>
            <a:ext cx="248504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Net</a:t>
            </a:r>
            <a:endParaRPr lang="en-US" sz="375" dirty="0"/>
          </a:p>
        </p:txBody>
      </p:sp>
      <p:pic>
        <p:nvPicPr>
          <p:cNvPr id="47" name="Image 18" descr="/tmp/rasterized-gradient-787889f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5775" y="3952875"/>
            <a:ext cx="857250" cy="419100"/>
          </a:xfrm>
          <a:prstGeom prst="rect">
            <a:avLst/>
          </a:prstGeom>
          <a:effectLst>
            <a:outerShdw blurRad="114300" dist="28575" dir="5400000" algn="bl" rotWithShape="0">
              <a:srgbClr val="EF4444">
                <a:alpha val="25000"/>
              </a:srgbClr>
            </a:outerShdw>
          </a:effectLst>
        </p:spPr>
      </p:pic>
      <p:sp>
        <p:nvSpPr>
          <p:cNvPr id="48" name="Text 27"/>
          <p:cNvSpPr/>
          <p:nvPr/>
        </p:nvSpPr>
        <p:spPr>
          <a:xfrm>
            <a:off x="4369027" y="4122390"/>
            <a:ext cx="710598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 Risk Score</a:t>
            </a:r>
            <a:endParaRPr lang="en-US" sz="525" dirty="0"/>
          </a:p>
        </p:txBody>
      </p:sp>
      <p:pic>
        <p:nvPicPr>
          <p:cNvPr id="49" name="Image 19" descr="/tmp/rasterized-gradient-b056ff4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81425" y="4476750"/>
            <a:ext cx="400050" cy="400050"/>
          </a:xfrm>
          <a:prstGeom prst="rect">
            <a:avLst/>
          </a:prstGeom>
          <a:effectLst>
            <a:outerShdw blurRad="76200" dist="19050" dir="5400000" algn="bl" rotWithShape="0">
              <a:srgbClr val="EF4444">
                <a:alpha val="25000"/>
              </a:srgbClr>
            </a:outerShdw>
          </a:effectLst>
        </p:spPr>
      </p:pic>
      <p:sp>
        <p:nvSpPr>
          <p:cNvPr id="50" name="Text 28"/>
          <p:cNvSpPr/>
          <p:nvPr/>
        </p:nvSpPr>
        <p:spPr>
          <a:xfrm>
            <a:off x="3915966" y="4574381"/>
            <a:ext cx="1334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825" dirty="0"/>
          </a:p>
        </p:txBody>
      </p:sp>
      <p:sp>
        <p:nvSpPr>
          <p:cNvPr id="51" name="Text 29"/>
          <p:cNvSpPr/>
          <p:nvPr/>
        </p:nvSpPr>
        <p:spPr>
          <a:xfrm>
            <a:off x="3831012" y="4726781"/>
            <a:ext cx="300877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FEV₁ Decline</a:t>
            </a:r>
            <a:endParaRPr lang="en-US" sz="375" dirty="0"/>
          </a:p>
        </p:txBody>
      </p:sp>
      <p:pic>
        <p:nvPicPr>
          <p:cNvPr id="52" name="Image 20" descr="/tmp/rasterized-gradient-b4dbbe9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76725" y="4476750"/>
            <a:ext cx="400050" cy="400050"/>
          </a:xfrm>
          <a:prstGeom prst="rect">
            <a:avLst/>
          </a:prstGeom>
          <a:effectLst>
            <a:outerShdw blurRad="76200" dist="19050" dir="5400000" algn="bl" rotWithShape="0">
              <a:srgbClr val="EF4444">
                <a:alpha val="25000"/>
              </a:srgbClr>
            </a:outerShdw>
          </a:effectLst>
        </p:spPr>
      </p:pic>
      <p:sp>
        <p:nvSpPr>
          <p:cNvPr id="53" name="Text 30"/>
          <p:cNvSpPr/>
          <p:nvPr/>
        </p:nvSpPr>
        <p:spPr>
          <a:xfrm>
            <a:off x="4411266" y="4574381"/>
            <a:ext cx="1334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🫁</a:t>
            </a:r>
            <a:endParaRPr lang="en-US" sz="825" dirty="0"/>
          </a:p>
        </p:txBody>
      </p:sp>
      <p:sp>
        <p:nvSpPr>
          <p:cNvPr id="54" name="Text 31"/>
          <p:cNvSpPr/>
          <p:nvPr/>
        </p:nvSpPr>
        <p:spPr>
          <a:xfrm>
            <a:off x="4333598" y="4726781"/>
            <a:ext cx="286304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Emphysema</a:t>
            </a:r>
            <a:endParaRPr lang="en-US" sz="375" dirty="0"/>
          </a:p>
        </p:txBody>
      </p:sp>
      <p:pic>
        <p:nvPicPr>
          <p:cNvPr id="55" name="Image 21" descr="/tmp/rasterized-gradient-140b9a6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72025" y="4476750"/>
            <a:ext cx="400050" cy="400050"/>
          </a:xfrm>
          <a:prstGeom prst="rect">
            <a:avLst/>
          </a:prstGeom>
          <a:effectLst>
            <a:outerShdw blurRad="76200" dist="19050" dir="5400000" algn="bl" rotWithShape="0">
              <a:srgbClr val="EF4444">
                <a:alpha val="25000"/>
              </a:srgbClr>
            </a:outerShdw>
          </a:effectLst>
        </p:spPr>
      </p:pic>
      <p:sp>
        <p:nvSpPr>
          <p:cNvPr id="56" name="Text 32"/>
          <p:cNvSpPr/>
          <p:nvPr/>
        </p:nvSpPr>
        <p:spPr>
          <a:xfrm>
            <a:off x="4906566" y="4574381"/>
            <a:ext cx="1334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825" dirty="0"/>
          </a:p>
        </p:txBody>
      </p:sp>
      <p:sp>
        <p:nvSpPr>
          <p:cNvPr id="57" name="Text 33"/>
          <p:cNvSpPr/>
          <p:nvPr/>
        </p:nvSpPr>
        <p:spPr>
          <a:xfrm>
            <a:off x="4870646" y="4726781"/>
            <a:ext cx="202659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Exacerb.</a:t>
            </a:r>
            <a:endParaRPr lang="en-US" sz="375" dirty="0"/>
          </a:p>
        </p:txBody>
      </p:sp>
      <p:pic>
        <p:nvPicPr>
          <p:cNvPr id="58" name="Image 22" descr="/tmp/rasterized-gradient-0b6c69d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7325" y="4476750"/>
            <a:ext cx="400050" cy="400050"/>
          </a:xfrm>
          <a:prstGeom prst="rect">
            <a:avLst/>
          </a:prstGeom>
          <a:effectLst>
            <a:outerShdw blurRad="76200" dist="19050" dir="5400000" algn="bl" rotWithShape="0">
              <a:srgbClr val="EF4444">
                <a:alpha val="25000"/>
              </a:srgbClr>
            </a:outerShdw>
          </a:effectLst>
        </p:spPr>
      </p:pic>
      <p:sp>
        <p:nvSpPr>
          <p:cNvPr id="59" name="Text 34"/>
          <p:cNvSpPr/>
          <p:nvPr/>
        </p:nvSpPr>
        <p:spPr>
          <a:xfrm>
            <a:off x="5401866" y="4574381"/>
            <a:ext cx="1334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💔</a:t>
            </a:r>
            <a:endParaRPr lang="en-US" sz="825" dirty="0"/>
          </a:p>
        </p:txBody>
      </p:sp>
      <p:sp>
        <p:nvSpPr>
          <p:cNvPr id="60" name="Text 35"/>
          <p:cNvSpPr/>
          <p:nvPr/>
        </p:nvSpPr>
        <p:spPr>
          <a:xfrm>
            <a:off x="5366096" y="4726781"/>
            <a:ext cx="202507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3"/>
              </a:lnSpc>
              <a:spcBef>
                <a:spcPts val="75"/>
              </a:spcBef>
              <a:spcAft>
                <a:spcPts val="300"/>
              </a:spcAft>
              <a:buNone/>
            </a:pPr>
            <a:r>
              <a:rPr lang="en-US" sz="3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Mortality</a:t>
            </a:r>
            <a:endParaRPr lang="en-US" sz="375" dirty="0"/>
          </a:p>
        </p:txBody>
      </p:sp>
      <p:sp>
        <p:nvSpPr>
          <p:cNvPr id="31" name="Text 16"/>
          <p:cNvSpPr/>
          <p:nvPr/>
        </p:nvSpPr>
        <p:spPr>
          <a:xfrm>
            <a:off x="4030319" y="2398365"/>
            <a:ext cx="2347764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🫁</a:t>
            </a:r>
            <a:endParaRPr lang="en-US" sz="10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47</Words>
  <Application>Microsoft Macintosh PowerPoint</Application>
  <PresentationFormat>On-screen Show (16:9)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COPD Multi-omics Integration Framework</dc:title>
  <dc:subject>PptxGenJS Presentation</dc:subject>
  <dc:creator>PptxGenJS</dc:creator>
  <cp:lastModifiedBy>Microsoft Office User</cp:lastModifiedBy>
  <cp:revision>2</cp:revision>
  <dcterms:created xsi:type="dcterms:W3CDTF">2026-01-05T11:14:21Z</dcterms:created>
  <dcterms:modified xsi:type="dcterms:W3CDTF">2026-01-05T12:08:34Z</dcterms:modified>
</cp:coreProperties>
</file>